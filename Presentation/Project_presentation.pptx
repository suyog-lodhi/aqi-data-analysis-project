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2A96FC-156B-4810-B819-1FED3C278D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0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6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7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3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84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8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98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9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54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7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00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85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6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600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53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8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2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89F1-10ED-D528-8DAD-C9F055257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265" y="737701"/>
            <a:ext cx="8825658" cy="2677648"/>
          </a:xfrm>
        </p:spPr>
        <p:txBody>
          <a:bodyPr/>
          <a:lstStyle/>
          <a:p>
            <a:r>
              <a:rPr lang="en-IN" dirty="0"/>
              <a:t>Jabalpur AQI Dashboard &amp; Analysis</a:t>
            </a:r>
            <a:endParaRPr lang="en-IN" u="sng" spc="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FC7A3-F834-3288-EA4F-45ECDD419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91" y="4374257"/>
            <a:ext cx="8825658" cy="861420"/>
          </a:xfr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r>
              <a:rPr lang="en-IN" sz="2000" dirty="0">
                <a:solidFill>
                  <a:schemeClr val="bg1"/>
                </a:solidFill>
              </a:rPr>
              <a:t>Multi-Station Air Pollution Trends | 2025 | Power BI Project</a:t>
            </a:r>
          </a:p>
          <a:p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8FF1CA-B2A2-930C-D110-AFF5570132D7}"/>
              </a:ext>
            </a:extLst>
          </p:cNvPr>
          <p:cNvCxnSpPr>
            <a:cxnSpLocks/>
          </p:cNvCxnSpPr>
          <p:nvPr/>
        </p:nvCxnSpPr>
        <p:spPr>
          <a:xfrm>
            <a:off x="4427241" y="3883742"/>
            <a:ext cx="230785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FD18-C9BF-B83E-C4AC-BC4FEA30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973669"/>
            <a:ext cx="3893574" cy="687984"/>
          </a:xfrm>
        </p:spPr>
        <p:txBody>
          <a:bodyPr/>
          <a:lstStyle/>
          <a:p>
            <a:pPr algn="ctr"/>
            <a:r>
              <a:rPr lang="en-US" sz="40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CONTENTS</a:t>
            </a:r>
            <a:endParaRPr lang="en-IN" sz="4000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7E05-766C-84A6-37FC-C708C19E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644" y="2406854"/>
            <a:ext cx="7777317" cy="4359705"/>
          </a:xfrm>
        </p:spPr>
        <p:txBody>
          <a:bodyPr>
            <a:normAutofit/>
          </a:bodyPr>
          <a:lstStyle/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and Study Area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 1 : Average AQI 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 2 : Average Worst AQI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 3 : Maximum AQI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Dominating Pollutants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AQI Category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 And Observations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Demonstration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A9495D-C791-7BA8-89DE-DD93E8578872}"/>
              </a:ext>
            </a:extLst>
          </p:cNvPr>
          <p:cNvCxnSpPr>
            <a:cxnSpLocks/>
          </p:cNvCxnSpPr>
          <p:nvPr/>
        </p:nvCxnSpPr>
        <p:spPr>
          <a:xfrm>
            <a:off x="491613" y="2133600"/>
            <a:ext cx="0" cy="449334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91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D3C6-2B13-9B83-5F2D-C35889EC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057" y="1241323"/>
            <a:ext cx="6685937" cy="687983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INTRODUCTION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15E8-B388-3369-CE97-C33D7D00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64448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This project presents a data-driven analysis of air quality in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Jabalpur (Madhya Pradesh)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using data from four monitoring stations for the year 2025.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objective is to understand overall air quality trends, dominant pollutants, and seasonal variations across the city.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Using Excel, Power BI and SQL, the dataset was cleaned, combined, and transformed to build an interactive dashboard for analysis.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project demonstrates how data analytics can support urban air quality monitoring and decision-making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FEA85B-4F6D-959C-70EA-91BB9FB1B1B7}"/>
              </a:ext>
            </a:extLst>
          </p:cNvPr>
          <p:cNvCxnSpPr>
            <a:cxnSpLocks/>
          </p:cNvCxnSpPr>
          <p:nvPr/>
        </p:nvCxnSpPr>
        <p:spPr>
          <a:xfrm>
            <a:off x="491613" y="2603500"/>
            <a:ext cx="0" cy="368554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6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FC91-8167-E10D-A2D8-EDEAA0BF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245" y="973669"/>
            <a:ext cx="3077497" cy="706964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DATASET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FF66726-1E49-0D70-BA26-22D02AB0C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366353"/>
              </p:ext>
            </p:extLst>
          </p:nvPr>
        </p:nvGraphicFramePr>
        <p:xfrm>
          <a:off x="1155698" y="2603499"/>
          <a:ext cx="9590960" cy="3748142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4795480">
                  <a:extLst>
                    <a:ext uri="{9D8B030D-6E8A-4147-A177-3AD203B41FA5}">
                      <a16:colId xmlns:a16="http://schemas.microsoft.com/office/drawing/2014/main" val="2540082429"/>
                    </a:ext>
                  </a:extLst>
                </a:gridCol>
                <a:gridCol w="4795480">
                  <a:extLst>
                    <a:ext uri="{9D8B030D-6E8A-4147-A177-3AD203B41FA5}">
                      <a16:colId xmlns:a16="http://schemas.microsoft.com/office/drawing/2014/main" val="4018213384"/>
                    </a:ext>
                  </a:extLst>
                </a:gridCol>
              </a:tblGrid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Dataset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Jabalpur_AQI_Data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08144"/>
                  </a:ext>
                </a:extLst>
              </a:tr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No. of Stations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04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640389"/>
                  </a:ext>
                </a:extLst>
              </a:tr>
              <a:tr h="74139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Stations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Gupteshwar, Marhatal, Govind Bhavan Colony,  Suhagi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582448"/>
                  </a:ext>
                </a:extLst>
              </a:tr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No. of  Rows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1426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61546"/>
                  </a:ext>
                </a:extLst>
              </a:tr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No. of Columns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25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171381"/>
                  </a:ext>
                </a:extLst>
              </a:tr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Time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Year 2025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101424"/>
                  </a:ext>
                </a:extLst>
              </a:tr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File Format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CSV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76781"/>
                  </a:ext>
                </a:extLst>
              </a:tr>
              <a:tr h="42953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 Source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CPCB Monitoring Stations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54523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92C297-7828-DF24-67FE-7F3930587119}"/>
              </a:ext>
            </a:extLst>
          </p:cNvPr>
          <p:cNvCxnSpPr>
            <a:cxnSpLocks/>
          </p:cNvCxnSpPr>
          <p:nvPr/>
        </p:nvCxnSpPr>
        <p:spPr>
          <a:xfrm>
            <a:off x="491613" y="2603499"/>
            <a:ext cx="0" cy="374814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98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3275-1AF6-4C75-9BB8-85B195EB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779" y="995779"/>
            <a:ext cx="3269562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TOOLS USED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F64C5F-8F60-8287-BBF4-197311CDE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658263"/>
              </p:ext>
            </p:extLst>
          </p:nvPr>
        </p:nvGraphicFramePr>
        <p:xfrm>
          <a:off x="791160" y="3655552"/>
          <a:ext cx="2394491" cy="166206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2394491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166206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Data Exploration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Data Cleaning Using Power Query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Data Preparation</a:t>
                      </a:r>
                      <a:endParaRPr lang="en-IN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A6719C-7155-1571-95D9-1C91ACFDB99A}"/>
              </a:ext>
            </a:extLst>
          </p:cNvPr>
          <p:cNvSpPr/>
          <p:nvPr/>
        </p:nvSpPr>
        <p:spPr>
          <a:xfrm>
            <a:off x="791160" y="2603500"/>
            <a:ext cx="2394491" cy="7546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EXCEL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DDF2EE8-AE75-8D27-F56B-DBA791FC364F}"/>
              </a:ext>
            </a:extLst>
          </p:cNvPr>
          <p:cNvSpPr/>
          <p:nvPr/>
        </p:nvSpPr>
        <p:spPr>
          <a:xfrm>
            <a:off x="4621260" y="2603500"/>
            <a:ext cx="2408903" cy="754626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SQL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3F5FD8-2952-B102-340D-FE2AE6AA625E}"/>
              </a:ext>
            </a:extLst>
          </p:cNvPr>
          <p:cNvSpPr/>
          <p:nvPr/>
        </p:nvSpPr>
        <p:spPr>
          <a:xfrm>
            <a:off x="8337755" y="2603500"/>
            <a:ext cx="2566219" cy="7546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EE0820F3-630C-5B7F-47F7-00DC7C3535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4488386"/>
              </p:ext>
            </p:extLst>
          </p:nvPr>
        </p:nvGraphicFramePr>
        <p:xfrm>
          <a:off x="4497273" y="3714423"/>
          <a:ext cx="3044068" cy="1440834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3044068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144083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Validated KPI’s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Cross Checked Results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Performed Query Based Analysis</a:t>
                      </a:r>
                      <a:endParaRPr lang="en-IN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B9E2DD18-B01B-F44F-72DD-9053F0C13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732048"/>
              </p:ext>
            </p:extLst>
          </p:nvPr>
        </p:nvGraphicFramePr>
        <p:xfrm>
          <a:off x="8337755" y="3566160"/>
          <a:ext cx="2762864" cy="173736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2762864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157561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Joining Multiple Files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Data Exploration And Cleaning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Dax Calculations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Dashboard Creation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Visual Analysis</a:t>
                      </a:r>
                      <a:endParaRPr lang="en-IN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D5052F-B6C2-5705-448F-4708728B3499}"/>
              </a:ext>
            </a:extLst>
          </p:cNvPr>
          <p:cNvCxnSpPr>
            <a:cxnSpLocks/>
          </p:cNvCxnSpPr>
          <p:nvPr/>
        </p:nvCxnSpPr>
        <p:spPr>
          <a:xfrm>
            <a:off x="501773" y="2428240"/>
            <a:ext cx="0" cy="392176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80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F322-6470-5FBF-93B3-6E69D27E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521" y="861909"/>
            <a:ext cx="6972360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KPI – 1 AVERAGE AQI TREND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6912FC1-2F1F-97C5-5CC5-9B0E134D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2387739"/>
            <a:ext cx="5699759" cy="4263125"/>
          </a:xfrm>
        </p:spPr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By observing the visual we can clearly see the Average AQI Trend of all the four stations as well as an Overall Avg AQI Trend.</a:t>
            </a:r>
          </a:p>
          <a:p>
            <a:pPr marL="0" indent="0">
              <a:buNone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Station wise Marhatal is most polluted station in Jabalpur based on AVG AQI while Govind Bhavan Colony records the lowest pollution levels among all the 4 monitoring stations.</a:t>
            </a:r>
          </a:p>
          <a:p>
            <a:pPr marL="0" indent="0">
              <a:buNone/>
            </a:pP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AQI Levels remain lowest during the monsoon months and rise significantly in winter , with November recording the highest average AQI.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A262A8A5-FB26-6F76-6FD5-BD771A61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06" y="4568344"/>
            <a:ext cx="5323734" cy="20825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62FD26-0ED5-8609-8FBC-1911D7D0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444" y="2387739"/>
            <a:ext cx="5358396" cy="208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3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DD9F-A0EC-E173-C278-0577C125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740" y="838200"/>
            <a:ext cx="564208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KPI – 2  MAXIMUM AQI 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0EB5BF-A684-9F91-FA21-2089EDE2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2468880"/>
            <a:ext cx="11602719" cy="1940560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From the visuals we can clearly see that from January to May MAXIMUM AQI remains relatively stable ranging between 117 - 191 .</a:t>
            </a:r>
          </a:p>
          <a:p>
            <a:pPr marL="0" indent="0">
              <a:buNone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sharp increase was observed from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June to December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with most peak values falling between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230–359.</a:t>
            </a:r>
          </a:p>
          <a:p>
            <a:pPr marL="0" indent="0">
              <a:buNone/>
            </a:pP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last quarter (Oct–Dec)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recorded the most severe pollution spikes.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3" name="Picture 12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A7900C0D-80E7-B0B0-F7A3-B9F4C9640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8" y="4480560"/>
            <a:ext cx="3915152" cy="2216349"/>
          </a:xfrm>
          <a:prstGeom prst="rect">
            <a:avLst/>
          </a:prstGeom>
        </p:spPr>
      </p:pic>
      <p:pic>
        <p:nvPicPr>
          <p:cNvPr id="15" name="Picture 14" descr="A graph showing the number of months of the month&#10;&#10;AI-generated content may be incorrect.">
            <a:extLst>
              <a:ext uri="{FF2B5EF4-FFF2-40B4-BE49-F238E27FC236}">
                <a16:creationId xmlns:a16="http://schemas.microsoft.com/office/drawing/2014/main" id="{28EF4EE3-1E5D-53CF-488D-AF71D1EE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961" y="4409440"/>
            <a:ext cx="6756398" cy="22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0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6BD5-31D7-DF05-7DBE-904915FE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395" y="922869"/>
            <a:ext cx="676984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KPI – 3  AVERAGE WORST AQI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7E59-613D-A5B8-9874-93AAD208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2509520"/>
            <a:ext cx="11135360" cy="1778000"/>
          </a:xfrm>
        </p:spPr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 Average Worst AQI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across all stations is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around 84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indicating that the dominant pollutant on most days falls in the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Satisfactory to Moderate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range.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Worst AQI remains moderate overall but increases significantly in the winter months, with Marhatal showing the highest pollution intensity among all stations, mainly driven by Pollutants  PM10 and PM2.5 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 descr="A graph showing the average of a station wise&#10;&#10;AI-generated content may be incorrect.">
            <a:extLst>
              <a:ext uri="{FF2B5EF4-FFF2-40B4-BE49-F238E27FC236}">
                <a16:creationId xmlns:a16="http://schemas.microsoft.com/office/drawing/2014/main" id="{46950624-8E3E-B603-B368-9F218DAC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31360"/>
            <a:ext cx="6319521" cy="2188379"/>
          </a:xfrm>
          <a:prstGeom prst="rect">
            <a:avLst/>
          </a:prstGeom>
        </p:spPr>
      </p:pic>
      <p:pic>
        <p:nvPicPr>
          <p:cNvPr id="9" name="Picture 8" descr="A graph of average station wise&#10;&#10;AI-generated content may be incorrect.">
            <a:extLst>
              <a:ext uri="{FF2B5EF4-FFF2-40B4-BE49-F238E27FC236}">
                <a16:creationId xmlns:a16="http://schemas.microsoft.com/office/drawing/2014/main" id="{2393FA43-3DC4-BB72-0376-CAFBE73DF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1" y="4460240"/>
            <a:ext cx="4020111" cy="225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2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4975-8230-3ED2-E251-70038625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555" y="838200"/>
            <a:ext cx="662760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DOMINATING POLLUTANTS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20E6-9EF5-9472-8F02-D949D486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34" y="2623820"/>
            <a:ext cx="6546325" cy="3766820"/>
          </a:xfrm>
        </p:spPr>
        <p:txBody>
          <a:bodyPr/>
          <a:lstStyle/>
          <a:p>
            <a:pPr>
              <a:buClr>
                <a:schemeClr val="accent3">
                  <a:lumMod val="75000"/>
                </a:schemeClr>
              </a:buClr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most dominant pollutant throughout the year is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PM10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followed by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PM2.5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Seasonal Pattern</a:t>
            </a:r>
          </a:p>
          <a:p>
            <a:pPr lvl="3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Winter (Oct–Dec):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PM2.5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PM10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dominate due to dust accumulation and low wind movement.</a:t>
            </a:r>
          </a:p>
          <a:p>
            <a:pPr lvl="3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Summer 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Ozone (O₃)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levels increase because of strong sunlight and higher temperatures.</a:t>
            </a:r>
          </a:p>
          <a:p>
            <a:pPr lvl="3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Monsoon 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appears more frequently, while particulate matter slightly reduces due to rainfall.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graph of numbers and text&#10;&#10;AI-generated content may be incorrect.">
            <a:extLst>
              <a:ext uri="{FF2B5EF4-FFF2-40B4-BE49-F238E27FC236}">
                <a16:creationId xmlns:a16="http://schemas.microsoft.com/office/drawing/2014/main" id="{AB5EA246-D668-8A70-A86C-D2C7913E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265" y="2623820"/>
            <a:ext cx="4780015" cy="324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7DCA-7739-0DA4-061C-42C1852D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758" y="953349"/>
            <a:ext cx="4941046" cy="706964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AQI CATEGORY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8672D-6515-E6F3-2BFC-5B6915367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65445" cy="1328420"/>
          </a:xfrm>
        </p:spPr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Jabalpur’s air quality is generally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Good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to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Satisfactory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for most of the year, but conditions worsen in the winter months when Moderate to Poor categories become more frequent.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 descr="A chart with numbers and a circle&#10;&#10;AI-generated content may be incorrect.">
            <a:extLst>
              <a:ext uri="{FF2B5EF4-FFF2-40B4-BE49-F238E27FC236}">
                <a16:creationId xmlns:a16="http://schemas.microsoft.com/office/drawing/2014/main" id="{1EAEDC31-44CD-ABDA-56C2-4E4C0107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30320"/>
            <a:ext cx="3776798" cy="2773680"/>
          </a:xfrm>
          <a:prstGeom prst="rect">
            <a:avLst/>
          </a:prstGeom>
        </p:spPr>
      </p:pic>
      <p:pic>
        <p:nvPicPr>
          <p:cNvPr id="7" name="Picture 6" descr="A chart of a number of levels&#10;&#10;AI-generated content may be incorrect.">
            <a:extLst>
              <a:ext uri="{FF2B5EF4-FFF2-40B4-BE49-F238E27FC236}">
                <a16:creationId xmlns:a16="http://schemas.microsoft.com/office/drawing/2014/main" id="{A0708514-C87F-06BE-FB57-CFA5DA65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714" y="3830320"/>
            <a:ext cx="4218088" cy="27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41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52A0-D7D9-94D3-035E-A37B6B7A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853441"/>
            <a:ext cx="8818880" cy="772160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 AND OBSERVATIONS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9DE9-3DD0-7F35-E035-076644B7A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60" y="2407920"/>
            <a:ext cx="10749280" cy="4297680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overall air quality in Jabalpur remains mostly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Good to Satisfactory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with a yearly average AQI of around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39.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Winter months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show a noticeable rise in pollution levels, while the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monsoon period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records the cleanest air.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PM10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is the most dominant pollutant throughout the year, followed by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PM2.5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making particulate matter the primary driver of AQI.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Among all stations,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Marhatal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records the highest pollution levels, whereas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Govind Bhavan Colony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shows relatively better air quality.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Peak pollution events (high Max AQI) occur mainly in the 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last quarter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indicating seasonal accumulation of pollutants.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AQI values across weekdays remain fairly stable, showing no major day-specific spikes, which suggests pollution is driven more by seasonal and environmental factors than by specific days.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95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68C5-E918-08B4-C3F7-CF22AEE8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355" y="485989"/>
            <a:ext cx="563192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 BI DASHBOARD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ACE7CB-2B64-65C0-199F-99AC60D06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96" y="1554480"/>
            <a:ext cx="11969473" cy="5181283"/>
          </a:xfrm>
        </p:spPr>
      </p:pic>
    </p:spTree>
    <p:extLst>
      <p:ext uri="{BB962C8B-B14F-4D97-AF65-F5344CB8AC3E}">
        <p14:creationId xmlns:p14="http://schemas.microsoft.com/office/powerpoint/2010/main" val="2884534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94D6-C77F-401C-7DF2-100FB7CD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55" y="838200"/>
            <a:ext cx="4788646" cy="706964"/>
          </a:xfrm>
        </p:spPr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1E9A-30DD-5FDF-7E7D-D82EB2D7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2306320"/>
            <a:ext cx="10657840" cy="4470400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Stricter construction dust control :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Covering of construction sites , mandatory water sprinkling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marL="57150" indent="0">
              <a:buNone/>
            </a:pPr>
            <a:r>
              <a:rPr lang="en-IN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 Road dust management :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Increase frequency of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mechanical road sweeping and water spraying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on major roads and near traffic-heavy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zones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like Marhatal and Suhagi.</a:t>
            </a:r>
          </a:p>
          <a:p>
            <a:pPr marL="114300" indent="0">
              <a:buNone/>
            </a:pPr>
            <a:r>
              <a:rPr lang="en-US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</a:t>
            </a: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Traffic emission control: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Promote public transport usage , car pooling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Conduct Regular vehicle emission checks</a:t>
            </a:r>
          </a:p>
          <a:p>
            <a:pPr marL="114300" indent="0">
              <a:buNone/>
            </a:pP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</a:t>
            </a:r>
            <a:r>
              <a:rPr lang="en-US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Seasonal action plan for winter:</a:t>
            </a:r>
          </a:p>
          <a:p>
            <a:pPr lvl="1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Limiting construction hours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Avoid waste burning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en-IN" sz="1800" b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857250" lvl="2" indent="0">
              <a:buNone/>
            </a:pPr>
            <a:endParaRPr lang="en-IN" dirty="0"/>
          </a:p>
          <a:p>
            <a:pPr marL="514350" lvl="1" indent="0">
              <a:buNone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10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6F77-20F2-0EE8-D4C4-985E52A49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9"/>
            <a:ext cx="413840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b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F824-D6E2-A57D-A744-AE5D36D6E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440" y="3016250"/>
            <a:ext cx="5262880" cy="135255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THANK YOU…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10841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752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Century Gothic</vt:lpstr>
      <vt:lpstr>Courier New</vt:lpstr>
      <vt:lpstr>Lato black</vt:lpstr>
      <vt:lpstr>Segoe UI</vt:lpstr>
      <vt:lpstr>Segoe UI Semibold</vt:lpstr>
      <vt:lpstr>Wingdings</vt:lpstr>
      <vt:lpstr>Wingdings 3</vt:lpstr>
      <vt:lpstr>Ion Boardroom</vt:lpstr>
      <vt:lpstr>Jabalpur AQI Dashboard &amp; Analysis</vt:lpstr>
      <vt:lpstr>CONTENTS</vt:lpstr>
      <vt:lpstr>INTRODUCTION</vt:lpstr>
      <vt:lpstr>DATASET</vt:lpstr>
      <vt:lpstr>TOOLS USED</vt:lpstr>
      <vt:lpstr>KPI – 1 AVERAGE AQI TREND</vt:lpstr>
      <vt:lpstr>KPI – 2  MAXIMUM AQI </vt:lpstr>
      <vt:lpstr>KPI – 3  AVERAGE WORST AQI </vt:lpstr>
      <vt:lpstr>DOMINATING POLLUTANTS</vt:lpstr>
      <vt:lpstr>AQI CATEGORY</vt:lpstr>
      <vt:lpstr>KEY INSIGHTS AND OBSERVATIONS</vt:lpstr>
      <vt:lpstr>POWER BI DASHBOARD</vt:lpstr>
      <vt:lpstr>RECOMMENDATIONS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Lodhi</dc:creator>
  <cp:lastModifiedBy>Suyog Lodhi</cp:lastModifiedBy>
  <cp:revision>4</cp:revision>
  <dcterms:created xsi:type="dcterms:W3CDTF">2026-02-08T05:16:57Z</dcterms:created>
  <dcterms:modified xsi:type="dcterms:W3CDTF">2026-02-08T09:12:02Z</dcterms:modified>
</cp:coreProperties>
</file>